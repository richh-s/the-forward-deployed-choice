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E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8B8B"/>
                </a:solidFill>
              </a:rPr>
              <a:t>HORIZON SERVICES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Internal AI Knowledge
Assistant Proposal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337560"/>
            <a:ext cx="5029200" cy="457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4930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6F9"/>
                </a:solidFill>
              </a:rPr>
              <a:t>TRP1 – Week 12 Capstone Assessment  |  Part 4A – Final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97763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Prepared by:  Rachel Samson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89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6F9"/>
                </a:solidFill>
              </a:rPr>
              <a:t>Submission Date:  May 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Client Problem &amp; Business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8B8B"/>
                </a:solidFill>
              </a:rPr>
              <a:t>Why the status quo is unsustainable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5624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Horizon Services Group | Internal AI Knowledge Assistant |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3657600" cy="32004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99616"/>
            <a:ext cx="3474720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INFORMATION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874519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</a:rPr>
              <a:t>▸  Policy documents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</a:rPr>
              <a:t>▸  Slack messages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</a:rPr>
              <a:t>▸  Manager guidance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</a:rPr>
              <a:t>▸  Internal notes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840480"/>
            <a:ext cx="3657600" cy="32004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877056"/>
            <a:ext cx="3474720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BUSINESS IMPACT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251960"/>
            <a:ext cx="3657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333333"/>
                </a:solidFill>
              </a:rPr>
              <a:t>▸  Repetitive manager/HR questions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33333"/>
                </a:solidFill>
              </a:rPr>
              <a:t>▸  Inconsistent policy guidance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33333"/>
                </a:solidFill>
              </a:rPr>
              <a:t>▸  Delayed decision-making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33333"/>
                </a:solidFill>
              </a:rPr>
              <a:t>▸  Compliance &amp; security risks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33333"/>
                </a:solidFill>
              </a:rPr>
              <a:t>▸  Reduced productivity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1463040"/>
            <a:ext cx="7223760" cy="32004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499616"/>
            <a:ext cx="7040880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EXAMPLE EMPLOYEE QUESTIONS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1965960"/>
            <a:ext cx="722376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0" y="1965960"/>
            <a:ext cx="109728" cy="100584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00600" y="2148840"/>
            <a:ext cx="6766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1A2E5A"/>
                </a:solidFill>
              </a:rPr>
              <a:t>"Can I expense this?"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0" y="3246120"/>
            <a:ext cx="722376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0" y="3246120"/>
            <a:ext cx="109728" cy="100584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00600" y="3429000"/>
            <a:ext cx="6766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1A2E5A"/>
                </a:solidFill>
              </a:rPr>
              <a:t>"Who approves remote work equipment?"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4526279"/>
            <a:ext cx="722376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0" y="4526279"/>
            <a:ext cx="109728" cy="100584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0600" y="4709159"/>
            <a:ext cx="6766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1A2E5A"/>
                </a:solidFill>
              </a:rPr>
              <a:t>"Can I use AI tools with client data?"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Proposed AI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8B8B"/>
                </a:solidFill>
              </a:rPr>
              <a:t>Scope, capabilities, and key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5624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Horizon Services Group | Internal AI Knowledge Assistant |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303520" cy="32004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53896"/>
            <a:ext cx="5120640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THE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828800"/>
            <a:ext cx="5303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333333"/>
                </a:solidFill>
              </a:rPr>
              <a:t>✔  Searches approved company policies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333333"/>
                </a:solidFill>
              </a:rPr>
              <a:t>✔  Retrieves relevant information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333333"/>
                </a:solidFill>
              </a:rPr>
              <a:t>✔  Generates structured answers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333333"/>
                </a:solidFill>
              </a:rPr>
              <a:t>✔  Escalates unclear or risky cases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703320"/>
            <a:ext cx="5303520" cy="32004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739896"/>
            <a:ext cx="5120640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MVP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114800"/>
            <a:ext cx="5303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333333"/>
                </a:solidFill>
              </a:rPr>
              <a:t>▸  HR policies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333333"/>
                </a:solidFill>
              </a:rPr>
              <a:t>▸  Expense reimbursement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333333"/>
                </a:solidFill>
              </a:rPr>
              <a:t>▸  Remote work &amp; equipment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333333"/>
                </a:solidFill>
              </a:rPr>
              <a:t>▸  Communication &amp; escalation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333333"/>
                </a:solidFill>
              </a:rPr>
              <a:t>▸  AI tool usage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417320"/>
            <a:ext cx="5852160" cy="32004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0" y="1453896"/>
            <a:ext cx="5669280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KEY FEATURES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1920240"/>
            <a:ext cx="585216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0" y="1920240"/>
            <a:ext cx="109728" cy="9601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197510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E5A"/>
                </a:solidFill>
              </a:rPr>
              <a:t>Source-Backed Answers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377440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Every response cites the specific policy document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3035808"/>
            <a:ext cx="585216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0" y="3035808"/>
            <a:ext cx="109728" cy="9601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200" y="309067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E5A"/>
                </a:solidFill>
              </a:rPr>
              <a:t>Confidence Levels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3493008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Transparency on certainty — escalates when low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4151376"/>
            <a:ext cx="585216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43600" y="4151376"/>
            <a:ext cx="109728" cy="9601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72200" y="420624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E5A"/>
                </a:solidFill>
              </a:rPr>
              <a:t>Escalation Guidance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4608576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Routes unresolved questions to the right person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5266944"/>
            <a:ext cx="585216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43600" y="5266944"/>
            <a:ext cx="109728" cy="9601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72200" y="5321807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E5A"/>
                </a:solidFill>
              </a:rPr>
              <a:t>AI Safety Guardrails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5724144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Prevents hallucinations and confidentiality leaks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System Architecture &amp;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8B8B"/>
                </a:solidFill>
              </a:rPr>
              <a:t>Components and end-to-end data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5624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Horizon Services Group | Internal AI Knowledge Assistant |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029200" cy="32004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53896"/>
            <a:ext cx="4846320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SYSTEM COMPONENTS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333333"/>
                </a:solidFill>
              </a:rPr>
              <a:t>◈  User Interface (Slack / Web Chat)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333333"/>
                </a:solidFill>
              </a:rPr>
              <a:t>◈  Knowledge Base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333333"/>
                </a:solidFill>
              </a:rPr>
              <a:t>◈  Retrieval Layer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333333"/>
                </a:solidFill>
              </a:rPr>
              <a:t>◈  LLM Layer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333333"/>
                </a:solidFill>
              </a:rPr>
              <a:t>◈  Guardrails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333333"/>
                </a:solidFill>
              </a:rPr>
              <a:t>◈  Escalation System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333333"/>
                </a:solidFill>
              </a:rPr>
              <a:t>◈  Logging &amp; Feedback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0" y="1417320"/>
            <a:ext cx="6126480" cy="32004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0" y="1453896"/>
            <a:ext cx="5943600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WORKFLOW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0" y="1920240"/>
            <a:ext cx="411480" cy="50292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9659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920240"/>
            <a:ext cx="56235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0116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Employee submits question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0" y="2670048"/>
            <a:ext cx="411480" cy="50292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271576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2670048"/>
            <a:ext cx="56235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276148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Retrieval layer searches policies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0" y="3419856"/>
            <a:ext cx="411480" cy="50292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0" y="346557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3419856"/>
            <a:ext cx="56235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3511296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System checks risks and conflicts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0" y="4169664"/>
            <a:ext cx="411480" cy="50292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0" y="421538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4169664"/>
            <a:ext cx="56235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4261104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AI generates structured response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0" y="4919472"/>
            <a:ext cx="411480" cy="50292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0" y="496519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4919472"/>
            <a:ext cx="56235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0" y="5010912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Escalation triggered if needed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0" y="5669279"/>
            <a:ext cx="411480" cy="50292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0" y="5714999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26480" y="5669279"/>
            <a:ext cx="56235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0" y="5760719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Interaction logged for improvement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Prompt Strategy &amp; 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8B8B"/>
                </a:solidFill>
              </a:rPr>
              <a:t>How the AI reasons safely and accurately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5624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Horizon Services Group | Internal AI Knowledge Assistant |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486400" cy="32004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53896"/>
            <a:ext cx="5303520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PROMPT STRATEGY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920240"/>
            <a:ext cx="54864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920240"/>
            <a:ext cx="109728" cy="11887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99339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E5A"/>
                </a:solidFill>
              </a:rPr>
              <a:t>Retrieval 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395728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Improves policy document search accuracy by focusing the
semantic search on relevant policy sections.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291840"/>
            <a:ext cx="54864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3291840"/>
            <a:ext cx="109728" cy="11887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36499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E5A"/>
                </a:solidFill>
              </a:rPr>
              <a:t>Answer Generation Prompt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767328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Creates grounded, employee-facing responses that always
cite the source policy document.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663440"/>
            <a:ext cx="54864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4663440"/>
            <a:ext cx="109728" cy="11887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73659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E5A"/>
                </a:solidFill>
              </a:rPr>
              <a:t>Escalation Prompt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138927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Detects conflicting information, uncertainty, confidential
data, and approval-related situations.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1417320"/>
            <a:ext cx="5669280" cy="32004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1453896"/>
            <a:ext cx="5486400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GUARDRAILS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1920240"/>
            <a:ext cx="566928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26480" y="1920240"/>
            <a:ext cx="109728" cy="685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208483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Only answer using approved policies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2807208"/>
            <a:ext cx="566928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26480" y="2807208"/>
            <a:ext cx="109728" cy="685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29718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Prevent hallucinated responses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3694176"/>
            <a:ext cx="566928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26480" y="3694176"/>
            <a:ext cx="109728" cy="685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80" y="385876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Detect confidentiality risks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4581144"/>
            <a:ext cx="566928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26480" y="4581144"/>
            <a:ext cx="109728" cy="685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5080" y="4745736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Escalate unclear situations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26480" y="5468112"/>
            <a:ext cx="566928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26480" y="5468112"/>
            <a:ext cx="109728" cy="685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5080" y="5632704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Do not make final approval decisions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Example User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8B8B"/>
                </a:solidFill>
              </a:rPr>
              <a:t>End-to-end assistant interaction walkthrough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5624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Horizon Services Group | Internal AI Knowledge Assistant |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11457432" cy="77724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481328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</a:rPr>
              <a:t>  Employee Question:  "Can I use ChatGPT to summarize confidential client interview notes?"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377440"/>
            <a:ext cx="3749039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377440"/>
            <a:ext cx="3749039" cy="34747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40487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DIRECT ANSWER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2807208"/>
            <a:ext cx="3520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No. Confidential client information should not be pasted into public AI tools.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2377440"/>
            <a:ext cx="3749039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2377440"/>
            <a:ext cx="3749039" cy="347472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240487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EXPLANATION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2807208"/>
            <a:ext cx="3520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The AI Usage Policy allows AI tools for drafting and summarization, but confidential client data must not be shared with public AI systems.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2377440"/>
            <a:ext cx="3749039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2377440"/>
            <a:ext cx="3749039" cy="347472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240487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SOURCE REFERENCE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7" y="2807208"/>
            <a:ext cx="3520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Policy Note 5 — AI Tool Usage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480560"/>
            <a:ext cx="3749039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4480560"/>
            <a:ext cx="3749039" cy="34747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50799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CONFIDENCE LEVEL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" y="4910328"/>
            <a:ext cx="3520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</a:rPr>
              <a:t>High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80" y="4480560"/>
            <a:ext cx="3749039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97680" y="4480560"/>
            <a:ext cx="3749039" cy="34747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0" y="450799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ESCALATION NEEDED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07408" y="4910328"/>
            <a:ext cx="3520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</a:rPr>
              <a:t>Yes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4480560"/>
            <a:ext cx="3749039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29600" y="4480560"/>
            <a:ext cx="3749039" cy="347472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0" y="450799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SUGGESTED NEXT STEP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9327" y="4910328"/>
            <a:ext cx="3520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Consult your manager or IT/security team for approved alternatives.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Design Decisions, Risks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8B8B"/>
                </a:solidFill>
              </a:rPr>
              <a:t>Rationale, mitigations, and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5624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Horizon Services Group | Internal AI Knowledge Assistant |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3749039" cy="32004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53896"/>
            <a:ext cx="3566159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KEY DESIGN DECISIONS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828800"/>
            <a:ext cx="374903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200">
                <a:solidFill>
                  <a:srgbClr val="333333"/>
                </a:solidFill>
              </a:rPr>
              <a:t>✔  Retrieval-based AI reduces hallucinations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333333"/>
                </a:solidFill>
              </a:rPr>
              <a:t>✔  Official policies override Slack guidance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333333"/>
                </a:solidFill>
              </a:rPr>
              <a:t>✔  Human escalation handles uncertain cases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417320"/>
            <a:ext cx="3749039" cy="32004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59" y="1453896"/>
            <a:ext cx="3566159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RISKS &amp; MITIGATION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874519"/>
            <a:ext cx="3749039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874519"/>
            <a:ext cx="109728" cy="1143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938527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E5A"/>
                </a:solidFill>
              </a:rPr>
              <a:t>Hallucinated Answers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350008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Use only retrieved policy documents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3200400"/>
            <a:ext cx="3749039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89120" y="3200400"/>
            <a:ext cx="109728" cy="1143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326440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E5A"/>
                </a:solidFill>
              </a:rPr>
              <a:t>Conflicting Information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3675887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Prioritize official policies; escalate uncertainty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4526279"/>
            <a:ext cx="3749039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89120" y="4526279"/>
            <a:ext cx="109728" cy="1143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17720" y="459028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E5A"/>
                </a:solidFill>
              </a:rPr>
              <a:t>Confidential Data Exposure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5001767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Input filtering and confidentiality warnings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12480" y="1417320"/>
            <a:ext cx="3566160" cy="32004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19" y="1453896"/>
            <a:ext cx="3383279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NEXT STEPS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12480" y="1874519"/>
            <a:ext cx="457200" cy="82296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2011679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15400" y="1874519"/>
            <a:ext cx="301752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34272" y="205740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Conduct policy audit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12480" y="2971800"/>
            <a:ext cx="457200" cy="82296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0" y="310896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15400" y="2971800"/>
            <a:ext cx="301752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34272" y="315468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Build MVP retrieval system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12480" y="4069079"/>
            <a:ext cx="457200" cy="82296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80" y="420624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15400" y="4069079"/>
            <a:ext cx="301752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34272" y="4251959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Pilot with HR, Finance &amp; Ops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12480" y="5166359"/>
            <a:ext cx="457200" cy="82296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80" y="530352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15400" y="5166359"/>
            <a:ext cx="301752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34272" y="534924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Improve using feedback &amp; analytics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E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B8B"/>
                </a:solidFill>
              </a:rPr>
              <a:t>FINAL RECOMMENDATION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5029200" cy="457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4F6F9"/>
                </a:solidFill>
              </a:rPr>
              <a:t>The proposed Internal AI Knowledge Assistant is a practical and scalable
solution that improves productivity, consistency, operational efficiency,
and compliance safety.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291840"/>
            <a:ext cx="2743200" cy="1554480"/>
          </a:xfrm>
          <a:prstGeom prst="rect">
            <a:avLst/>
          </a:prstGeom>
          <a:solidFill>
            <a:srgbClr val="22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3291840"/>
            <a:ext cx="2743200" cy="10972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45643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Retrieval-Based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913632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6F9"/>
                </a:solidFill>
              </a:rPr>
              <a:t>Grounded answers from approved policies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3291840"/>
            <a:ext cx="2743200" cy="1554480"/>
          </a:xfrm>
          <a:prstGeom prst="rect">
            <a:avLst/>
          </a:prstGeom>
          <a:solidFill>
            <a:srgbClr val="22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3291840"/>
            <a:ext cx="2743200" cy="10972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345643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Strong Guardrails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3913632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6F9"/>
                </a:solidFill>
              </a:rPr>
              <a:t>Prevents hallucinations and confidentiality risks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291840"/>
            <a:ext cx="2743200" cy="1554480"/>
          </a:xfrm>
          <a:prstGeom prst="rect">
            <a:avLst/>
          </a:prstGeom>
          <a:solidFill>
            <a:srgbClr val="22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3291840"/>
            <a:ext cx="2743200" cy="10972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45643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Source-Backed Answers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913632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6F9"/>
                </a:solidFill>
              </a:rPr>
              <a:t>Every response cites the policy document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35440" y="3291840"/>
            <a:ext cx="2743200" cy="1554480"/>
          </a:xfrm>
          <a:prstGeom prst="rect">
            <a:avLst/>
          </a:prstGeom>
          <a:solidFill>
            <a:srgbClr val="22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35440" y="3291840"/>
            <a:ext cx="2743200" cy="10972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72600" y="345643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Human Escalation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3913632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6F9"/>
                </a:solidFill>
              </a:rPr>
              <a:t>Uncertain cases routed to the right person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074920"/>
            <a:ext cx="10698480" cy="457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2120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8B8B"/>
                </a:solidFill>
              </a:rPr>
              <a:t>Horizon Services Group can safely improve internal knowledge access while reducing operational risks.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80644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6F9"/>
                </a:solidFill>
              </a:rPr>
              <a:t>Rachel Samson  |  May 8,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