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2560320"/>
            <a:ext cx="12115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Tenacious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74519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3B82F6"/>
                </a:solidFill>
              </a:rPr>
              <a:t>Conversion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Forward-Deployed Challenge  ·  April 2026  ·  Rahel Samson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18CF8"/>
                </a:solidFill>
              </a:rPr>
              <a:t>Signal-grounded outreach  →  Email  →  SMS  →  Booking  →  HubSpot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Most outbound fails because it is generic.</a:t>
            </a:r>
          </a:p>
          <a:p>
            <a:pPr algn="l"/>
            <a:r>
              <a:rPr sz="1700" b="0">
                <a:solidFill>
                  <a:srgbClr val="64748B"/>
                </a:solidFill>
              </a:rPr>
              <a:t>A cold email that doesn't reference what's actually</a:t>
            </a:r>
          </a:p>
          <a:p>
            <a:pPr algn="l"/>
            <a:r>
              <a:rPr sz="1700" b="0">
                <a:solidFill>
                  <a:srgbClr val="64748B"/>
                </a:solidFill>
              </a:rPr>
              <a:t>happening at the company gets ignored.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2000" b="1">
                <a:solidFill>
                  <a:srgbClr val="FFFFFF"/>
                </a:solidFill>
              </a:rPr>
              <a:t>Tenacious needed a system that:</a:t>
            </a:r>
          </a:p>
          <a:p>
            <a:pPr algn="l"/>
            <a:r>
              <a:rPr sz="1700" b="0">
                <a:solidFill>
                  <a:srgbClr val="818CF8"/>
                </a:solidFill>
              </a:rPr>
              <a:t>  →  Reads public signals before writing a word</a:t>
            </a:r>
          </a:p>
          <a:p>
            <a:pPr algn="l"/>
            <a:r>
              <a:rPr sz="1700" b="0">
                <a:solidFill>
                  <a:srgbClr val="818CF8"/>
                </a:solidFill>
              </a:rPr>
              <a:t>  →  Decides whether and how to pitch</a:t>
            </a:r>
          </a:p>
          <a:p>
            <a:pPr algn="l"/>
            <a:r>
              <a:rPr sz="1700" b="0">
                <a:solidFill>
                  <a:srgbClr val="818CF8"/>
                </a:solidFill>
              </a:rPr>
              <a:t>  →  Handles the full pipeline automatically</a:t>
            </a:r>
          </a:p>
          <a:p>
            <a:pPr algn="l"/>
            <a:r>
              <a:rPr sz="1700" b="0">
                <a:solidFill>
                  <a:srgbClr val="818CF8"/>
                </a:solidFill>
              </a:rPr>
              <a:t>  →  Logs every claim so graders can verify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Public Data  (Crunchbase · Wellfound · layoffs.fyi · press)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          ↓</a:t>
            </a:r>
          </a:p>
          <a:p>
            <a:pPr algn="l"/>
            <a:r>
              <a:rPr sz="1400" b="1">
                <a:solidFill>
                  <a:srgbClr val="818CF8"/>
                </a:solidFill>
              </a:rPr>
              <a:t>Enrichment Pipeline  →  6 Signals  →  hiring_signal_brief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          ↓</a:t>
            </a:r>
          </a:p>
          <a:p>
            <a:pPr algn="l"/>
            <a:r>
              <a:rPr sz="1400" b="1">
                <a:solidFill>
                  <a:srgbClr val="3B82F6"/>
                </a:solidFill>
              </a:rPr>
              <a:t>Email Agent  (confidence ≥ 0.70 → Assertion  |  &lt; 0.70 → Inquiry)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          ↓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Resend API  →  Prospect Inbox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          ↓  prospect replies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Webhook Server (Render)  →  Intent Classification</a:t>
            </a:r>
          </a:p>
          <a:p>
            <a:pPr algn="l"/>
            <a:r>
              <a:rPr sz="1300" b="0">
                <a:solidFill>
                  <a:srgbClr val="10B981"/>
                </a:solidFill>
              </a:rPr>
              <a:t>          ↓  WARM</a:t>
            </a:r>
          </a:p>
          <a:p>
            <a:pPr algn="l"/>
            <a:r>
              <a:rPr sz="1400" b="1">
                <a:solidFill>
                  <a:srgbClr val="10B981"/>
                </a:solidFill>
              </a:rPr>
              <a:t>Africa's Talking SMS  →  Cal.com Booking  →  HubSpot Write-back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          ↓</a:t>
            </a:r>
          </a:p>
          <a:p>
            <a:pPr algn="l"/>
            <a:r>
              <a:rPr sz="1300" b="0">
                <a:solidFill>
                  <a:srgbClr val="F59E0B"/>
                </a:solidFill>
              </a:rPr>
              <a:t>Langfuse Traces  →  evidence_graph.json  →  invoice_summary.json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Card 1 — Six Enrichment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280160" cy="256032"/>
          </a:xfrm>
          <a:prstGeom prst="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</a:rPr>
              <a:t>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NovaPay Technologies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Signal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Funding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280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Series B · $16M · Feb 2026 · 67 days 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64207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Signal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6420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Job-Post Velocity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66420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9 open engineering roles · +9 delta over 60d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48255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Signal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4825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Layoff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048255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  No layoff detected  [HIGH confidence]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43230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Signal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43230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Leadership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432303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  New VP Engineering · started March 16 · 38d 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816351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Signal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81635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AI Maturity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816351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Score 2/3 · ML roles open · Head of AI on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20039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Signal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2003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ICP Segment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20039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18CF8"/>
                </a:solidFill>
              </a:rPr>
              <a:t>  Segment 3 — Engineering Leadership Transition  ← derived, never fetched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9476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Competitor Gap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51960"/>
            <a:ext cx="2651760" cy="640080"/>
          </a:xfrm>
          <a:prstGeom prst="rect">
            <a:avLst/>
          </a:prstGeom>
          <a:solidFill>
            <a:srgbClr val="13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279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Stripe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526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AI Maturity 3/3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4251960"/>
            <a:ext cx="2651760" cy="640080"/>
          </a:xfrm>
          <a:prstGeom prst="rect">
            <a:avLst/>
          </a:prstGeom>
          <a:solidFill>
            <a:srgbClr val="13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128" y="4279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Plaid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4526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AI Maturity 3/3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251960"/>
            <a:ext cx="2651760" cy="640080"/>
          </a:xfrm>
          <a:prstGeom prst="rect">
            <a:avLst/>
          </a:prstGeom>
          <a:solidFill>
            <a:srgbClr val="1317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4279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Brex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4526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AI Maturity 2/3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4251960"/>
            <a:ext cx="2651760" cy="640080"/>
          </a:xfrm>
          <a:prstGeom prst="rect">
            <a:avLst/>
          </a:prstGeom>
          <a:solidFill>
            <a:srgbClr val="1317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9407" y="4279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NovaPay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9407" y="4526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AI Maturity 2/3  ← prospect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Card 2 — Live Email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280160" cy="256032"/>
          </a:xfrm>
          <a:prstGeom prst="rect">
            <a:avLst/>
          </a:prstGeom>
          <a:solidFill>
            <a:srgbClr val="20233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18CF8"/>
                </a:solidFill>
              </a:rPr>
              <a:t>Core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Avg signal confidence = 0.75</a:t>
            </a:r>
          </a:p>
          <a:p>
            <a:pPr algn="l"/>
            <a:r>
              <a:rPr sz="1400" b="1">
                <a:solidFill>
                  <a:srgbClr val="10B981"/>
                </a:solidFill>
              </a:rPr>
              <a:t>≥ 0.70  →  ASSERTION MODE</a:t>
            </a:r>
          </a:p>
          <a:p>
            <a:pPr algn="l"/>
            <a:r>
              <a:rPr sz="1300" b="0">
                <a:solidFill>
                  <a:srgbClr val="F59E0B"/>
                </a:solidFill>
              </a:rPr>
              <a:t>&lt; 0.70  →  Inquiry Mode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Agent states facts, not guesses.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Sent via Resend API.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818CF8"/>
                </a:solidFill>
              </a:rPr>
              <a:t>Trace ID:  908c8ce3</a:t>
            </a:r>
          </a:p>
          <a:p>
            <a:pPr algn="l"/>
            <a:r>
              <a:rPr sz="1200" b="0">
                <a:solidFill>
                  <a:srgbClr val="818CF8"/>
                </a:solidFill>
              </a:rPr>
              <a:t>Contact:   HubSpot #477559194332</a:t>
            </a:r>
          </a:p>
          <a:p>
            <a:pPr algn="l"/>
            <a:r>
              <a:rPr sz="1200" b="0">
                <a:solidFill>
                  <a:srgbClr val="10B981"/>
                </a:solidFill>
              </a:rPr>
              <a:t>Cost:      $0.03153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234440"/>
            <a:ext cx="6217920" cy="5029200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3258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</a:rPr>
              <a:t>Actual email 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642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Subject: Request: Aligning Engineering Strategies Post-Transition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214884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Hi NovaPay team,
Congratulations on your recent leadership transition
and Series B funding! With 9 open engineering roles,
it seems like a pivotal time for vendor reassessment.
Peers like Stripe have invested in dedicated ML
platform teams — an opportunity for NovaPay to
enhance its AI capabilities.
Can we schedule a brief call to discuss your roadmap?
Best,
Alex Chen
Senior Engagement Manager
Tenacious Intelligence Corporation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Card 3 — HubSpot Contact Populating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280160" cy="256032"/>
          </a:xfrm>
          <a:prstGeom prst="rect">
            <a:avLst/>
          </a:prstGeom>
          <a:solidFill>
            <a:srgbClr val="22173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5CF6"/>
                </a:solidFill>
              </a:rPr>
              <a:t>CRM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247120" cy="301752"/>
          </a:xfrm>
          <a:prstGeom prst="rect">
            <a:avLst/>
          </a:prstGeom>
          <a:solidFill>
            <a:srgbClr val="1C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firstname / lastname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16736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Jordan  Kim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91056"/>
            <a:ext cx="11247120" cy="301752"/>
          </a:xfrm>
          <a:prstGeom prst="rect">
            <a:avLst/>
          </a:prstGeom>
          <a:solidFill>
            <a:srgbClr val="13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27632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rahelsamson953@gmail.com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01952"/>
            <a:ext cx="11247120" cy="301752"/>
          </a:xfrm>
          <a:prstGeom prst="rect">
            <a:avLst/>
          </a:prstGeom>
          <a:solidFill>
            <a:srgbClr val="1C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385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company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38528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NovaPay Technologies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12848"/>
            <a:ext cx="11247120" cy="301752"/>
          </a:xfrm>
          <a:prstGeom prst="rect">
            <a:avLst/>
          </a:prstGeom>
          <a:solidFill>
            <a:srgbClr val="13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494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funding_round_type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249424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Series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23744"/>
            <a:ext cx="11247120" cy="301752"/>
          </a:xfrm>
          <a:prstGeom prst="rect">
            <a:avLst/>
          </a:prstGeom>
          <a:solidFill>
            <a:srgbClr val="1C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603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funding_days_ago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56032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34639"/>
            <a:ext cx="11247120" cy="301752"/>
          </a:xfrm>
          <a:prstGeom prst="rect">
            <a:avLst/>
          </a:prstGeom>
          <a:solidFill>
            <a:srgbClr val="13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71215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funding_amount_usd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871215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16000000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45535"/>
            <a:ext cx="11247120" cy="301752"/>
          </a:xfrm>
          <a:prstGeom prst="rect">
            <a:avLst/>
          </a:prstGeom>
          <a:solidFill>
            <a:srgbClr val="1C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82111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open_engineering_roles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182111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456431"/>
            <a:ext cx="11247120" cy="301752"/>
          </a:xfrm>
          <a:prstGeom prst="rect">
            <a:avLst/>
          </a:prstGeom>
          <a:solidFill>
            <a:srgbClr val="13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493007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layoff_event_present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493007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False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767327"/>
            <a:ext cx="11247120" cy="301752"/>
          </a:xfrm>
          <a:prstGeom prst="rect">
            <a:avLst/>
          </a:prstGeom>
          <a:solidFill>
            <a:srgbClr val="1C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803903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leadership_change_role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803903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VP Engineering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78223"/>
            <a:ext cx="11247120" cy="301752"/>
          </a:xfrm>
          <a:prstGeom prst="rect">
            <a:avLst/>
          </a:prstGeom>
          <a:solidFill>
            <a:srgbClr val="13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11479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ai_maturity_score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114799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89119"/>
            <a:ext cx="11247120" cy="301752"/>
          </a:xfrm>
          <a:prstGeom prst="rect">
            <a:avLst/>
          </a:prstGeom>
          <a:solidFill>
            <a:srgbClr val="1C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425695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icp_segment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425695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segment_3_leadership_transition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00015"/>
            <a:ext cx="11247120" cy="301752"/>
          </a:xfrm>
          <a:prstGeom prst="rect">
            <a:avLst/>
          </a:prstGeom>
          <a:solidFill>
            <a:srgbClr val="13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736591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icp_conflict_flag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736591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True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010911"/>
            <a:ext cx="11247120" cy="301752"/>
          </a:xfrm>
          <a:prstGeom prst="rect">
            <a:avLst/>
          </a:prstGeom>
          <a:solidFill>
            <a:srgbClr val="1C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047487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meeting_booked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5047487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false  →  true  (after booking)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⚠  No CFPB · No compliance · No regulatory fields anywhere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Card 4 — Email-to-SMS Channel Handoff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280160" cy="256032"/>
          </a:xfrm>
          <a:prstGeom prst="rect">
            <a:avLst/>
          </a:prstGeom>
          <a:solidFill>
            <a:srgbClr val="042E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</a:rPr>
              <a:t>Multi-Channel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25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Prospect replies: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2821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"Hi — yes, this sounds interesting. Happy to jump on a quick call."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30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305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Intent classification  →  WARM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32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Keyword match: 'happy to', 'call'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352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352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Africa's Talking fires SMS  →  +251963055269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"Hi Jordan — Book a 15-min call: cal.com/rahel-samson-tmtjxt/15min"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39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Delivered · 1/1 recipients · Cost $0.02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422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42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Booking confirmed — CAL-E7067FBE · April 29 10:00 UTC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445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STEP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445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HubSpot updated — meeting_booked = true · status 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Zero humans in the loop — email reply to booked call fully automated.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Card 5 — Agent Refuses to Over-Claim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280160" cy="256032"/>
          </a:xfrm>
          <a:prstGeom prst="rect">
            <a:avLst/>
          </a:prstGeom>
          <a:solidFill>
            <a:srgbClr val="3D270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Safety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03520" cy="2560320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Input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Funding:    Series A · $5M · 60 days ago  [HIGH]</a:t>
            </a:r>
          </a:p>
          <a:p>
            <a:pPr algn="l"/>
            <a:r>
              <a:rPr sz="1300" b="1">
                <a:solidFill>
                  <a:srgbClr val="F59E0B"/>
                </a:solidFill>
              </a:rPr>
              <a:t>Open roles: 2 engineering roles only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Layoff:     None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Leadership: No change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AI maturity: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280160"/>
            <a:ext cx="5303520" cy="2560320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</a:rPr>
              <a:t>ABSTAIN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Fresh funding detected but only 2 open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engineering roles. Requires ≥ 5 for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Segment 1 qualification.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✓  PASS — Agent correctly abstained. No over-claiming.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09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Why this matters: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74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Pitching 'scale up' to a company with 2 open roles destroys credibility immediately.
The classifier stops the agent before the email is ever composed.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Card 6 — Segment 2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280160" cy="256032"/>
          </a:xfrm>
          <a:prstGeom prst="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</a:rPr>
              <a:t>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804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Post-Layoff + Funded — Monte Carlo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03520" cy="1554480"/>
          </a:xfrm>
          <a:prstGeom prst="rect">
            <a:avLst/>
          </a:prstGeom>
          <a:solidFill>
            <a:srgbClr val="13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Signal 1 — Funding  (Crunchbase ODM)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Series D  ·  $25M  ·  109 days ago  ·  [HIGH confidence]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303520" cy="1554480"/>
          </a:xfrm>
          <a:prstGeom prst="rect">
            <a:avLst/>
          </a:prstGeom>
          <a:solidFill>
            <a:srgbClr val="1317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Signal 3 — Layoff  (layoffs.fyi CSV)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1907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30% of headcount  ·  32 days ago  ·  [HIGH confidence]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Naive classifier: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015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"Fresh Series D funding  →  Segment 1 — pitch growth, scale up"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86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Our classifier: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245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Layoff 32d ago overrides funding signal  →  Segment 2 — cost restructuring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</a:rPr>
              <a:t>"Preserve your AI delivery capacity while reshaping your cost structure."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120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Conflict flag raised  ·  Human review triggered before outreach goes out  ·  Confidence 1.00  ·  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Card 7 — τ²-Bench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280160" cy="256032"/>
          </a:xfrm>
          <a:prstGeom prst="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</a:rPr>
              <a:t>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651760" cy="1280160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</a:rPr>
              <a:t>72.67%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pass@1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651760" cy="1280160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</a:rPr>
              <a:t>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simulations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80160"/>
            <a:ext cx="2651760" cy="1280160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71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</a:rPr>
              <a:t>$0.0199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cost / sim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280160"/>
            <a:ext cx="2651760" cy="1280160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371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18CF8"/>
                </a:solidFill>
              </a:rPr>
              <a:t>105.9s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p50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697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95% CI:  [65.04%  —  79.17%]     Model: Qwen3-Next-80B     Domain: retail     30 tasks × 5 trials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46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Sample traces from eval/trace_log.jsonl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393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task 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3931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6393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reward=1.0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6393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$0.0175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6393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106.8s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96849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task 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96849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9684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reward=1.0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96849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$0.0288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96849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177.8s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2976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task 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2976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2976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reward=1.0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2976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$0.0167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2976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102.2s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6268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task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62686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6268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reward=0.0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6268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$0.0133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6268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82.6s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95604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task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49560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49560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reward=1.0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9560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$0.0107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9560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57.2s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Card 8 — Probe Library → Concrete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280160" cy="256032"/>
          </a:xfrm>
          <a:prstGeom prst="rect">
            <a:avLst/>
          </a:prstGeom>
          <a:solidFill>
            <a:srgbClr val="3D270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Safety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247120" cy="1097280"/>
          </a:xfrm>
          <a:prstGeom prst="rect">
            <a:avLst/>
          </a:prstGeom>
          <a:solidFill>
            <a:srgbClr val="2D1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Highest-ROI Failure: bench_over_commitment  (P-009)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</a:rPr>
              <a:t>Baseline trigger rate: 100%   ·   Business cost per occurrence: $18,000 expected pipeline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5303520" cy="1645920"/>
          </a:xfrm>
          <a:prstGeom prst="rect">
            <a:avLst/>
          </a:prstGeom>
          <a:solidFill>
            <a:srgbClr val="1317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BEFORE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99232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Agent promises capacity it doesn't have.
Every probe triggered it — 100% failure rate.
Discovery call fails. Deal lost.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560320"/>
            <a:ext cx="5303520" cy="1645920"/>
          </a:xfrm>
          <a:prstGeom prst="rect">
            <a:avLst/>
          </a:prstGeom>
          <a:solidFill>
            <a:srgbClr val="1317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51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AFTER (confidence-gated agent)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99232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Threshold 0.70 — below it, routes to human.
Trigger rate drops to 0%.
p-value = 5.4 × 10⁻⁶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80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Ablation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6460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95.0%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864608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No confidence gating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1937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Mechanism 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937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95.0%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193792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Confidence gating + ICP abstention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229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Mechanism v2 strict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2297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100.0%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52297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Stricter thresholds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Card 9 — Voice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280160" cy="256032"/>
          </a:xfrm>
          <a:prstGeom prst="rect">
            <a:avLst/>
          </a:prstGeom>
          <a:solidFill>
            <a:srgbClr val="3B122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C4899"/>
                </a:solidFill>
              </a:rPr>
              <a:t>Voice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Outbound Twilio discovery call — real, not a mock.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11247120" cy="384048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Call SID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75104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CA4eb61f333e8635f6213b5b3c980e3ee3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59152"/>
            <a:ext cx="11247120" cy="384048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140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41401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queued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98064"/>
            <a:ext cx="11247120" cy="384048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5292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52928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+251963055269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36976"/>
            <a:ext cx="11247120" cy="384048"/>
          </a:xfrm>
          <a:prstGeom prst="rect">
            <a:avLst/>
          </a:prstGeom>
          <a:solidFill>
            <a:srgbClr val="131726"/>
          </a:solidFill>
          <a:ln w="1270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91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Webhook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29184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/webhooks/voice  →  TwiML greeting + IVR menu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91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Channel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03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Primary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703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Email  — signal-grounded outreach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Secondary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114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SMS    — automated handoff on warm reply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</a:rPr>
              <a:t>Top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26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Voice  — high-value confirmed leads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Cost Summary + Evidence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invoice_summary.json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τ²-Bench full run (30 tasks × 5 trials)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898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gpt-4o-mini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3898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$0.885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Email compose — 50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gpt-4o-mini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7190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$0.011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48255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Resend outbound (happy path)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48255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Resend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04825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$0.007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23159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871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Total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4871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$0.903  ·  within $5.00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26079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03580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18CF8"/>
                </a:solidFill>
              </a:rPr>
              <a:t>evidence_graph.json — every PDF number is traced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3832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C001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8327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τ²-Bench pass@1 = 72.67%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38327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eval/score_log.json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68503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C002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685031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p50 latency = 2.8s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68503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eval/latency_results.json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98678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C005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986783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Cost per prospect = $0.0059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98678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invoice_summary.json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885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C006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28853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Happy path trace — email + HubSpot + Cal.com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28853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Langfuse trace 908c8ce3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5902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</a:rPr>
              <a:t>C007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5902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All 6 signals present for NovaPay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5902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data/hiring_signal_brief_novapay_v2.json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Kill-Switch Thresholds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If any metric breaches its threshold on two consecutive days — all outbound halts.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481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Measurement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11247120" cy="438912"/>
          </a:xfrm>
          <a:prstGeom prst="rect">
            <a:avLst/>
          </a:prstGeom>
          <a:solidFill>
            <a:srgbClr val="1C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391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hallucination_rate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&gt; 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391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LLM-as-judge on random 5% of outbound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59736"/>
            <a:ext cx="11247120" cy="438912"/>
          </a:xfrm>
          <a:prstGeom prst="rect">
            <a:avLst/>
          </a:prstGeom>
          <a:solidFill>
            <a:srgbClr val="13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328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cost_per_qualified_lead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32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&gt; $8.00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53288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invoice_summary.json ÷ qualified leads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53512"/>
            <a:ext cx="11247120" cy="438912"/>
          </a:xfrm>
          <a:prstGeom prst="rect">
            <a:avLst/>
          </a:prstGeom>
          <a:solidFill>
            <a:srgbClr val="1C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2666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icp_conflict_flag_rate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266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&gt; 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2666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Fraction of prospects with conflict_flag = true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47288"/>
            <a:ext cx="11247120" cy="438912"/>
          </a:xfrm>
          <a:prstGeom prst="rect">
            <a:avLst/>
          </a:prstGeom>
          <a:solidFill>
            <a:srgbClr val="13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20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opt_out_rate (SMS/email)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20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&gt; 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5204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STOP commands ÷ total SMS conversations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</a:rPr>
              <a:t>Rollback: two consecutive days above any threshold → routes to staff sink → delivery lead review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3200400"/>
            <a:ext cx="12115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The full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6 signals  ·  4 ICP segments  ·  confidence-gated assertion mode</a:t>
            </a:r>
          </a:p>
          <a:p>
            <a:pPr algn="l"/>
            <a:r>
              <a:rPr sz="1600" b="0">
                <a:solidFill>
                  <a:srgbClr val="818CF8"/>
                </a:solidFill>
              </a:rPr>
              <a:t>Email  →  SMS  →  Booking  →  HubSpot — zero humans in the loop</a:t>
            </a:r>
          </a:p>
          <a:p>
            <a:pPr algn="l"/>
            <a:r>
              <a:rPr sz="1500" b="0">
                <a:solidFill>
                  <a:srgbClr val="64748B"/>
                </a:solidFill>
              </a:rPr>
              <a:t>Every trace logged  ·  Every number in evidence_graph.json</a:t>
            </a:r>
          </a:p>
          <a:p>
            <a:pPr algn="l"/>
            <a:r>
              <a:rPr sz="1500" b="1">
                <a:solidFill>
                  <a:srgbClr val="10B981"/>
                </a:solidFill>
              </a:rPr>
              <a:t>Zero CFPB fields  ·  Total spend $0.90  ·  Within $5.00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Rahel Samson  ·  10Academy Forward-Deployed Challenge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