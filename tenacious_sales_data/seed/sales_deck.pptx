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JYzedafpT3xWpPQqY5WuTM/Or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6459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Georgia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Tenacious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24688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3200"/>
              <a:buFont typeface="Georgia"/>
              <a:buNone/>
            </a:pPr>
            <a:r>
              <a:rPr b="0" i="0" lang="en-US" sz="3200" u="none" cap="none" strike="noStrik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Intelligence Corporation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Managed AI delivery for companies that need to ship.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Discovery deck — anonymized for TRP1 Week 10 trainee use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What Tenacious does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640080" y="1645920"/>
            <a:ext cx="10972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D"/>
              </a:buClr>
              <a:buSzPts val="2800"/>
              <a:buFont typeface="Georgia"/>
              <a:buNone/>
            </a:pPr>
            <a:r>
              <a:rPr b="0" i="0" lang="en-US" sz="2800" u="none" cap="none" strike="noStrike">
                <a:solidFill>
                  <a:srgbClr val="2B2B3D"/>
                </a:solidFill>
                <a:latin typeface="Georgia"/>
                <a:ea typeface="Georgia"/>
                <a:cs typeface="Georgia"/>
                <a:sym typeface="Georgia"/>
              </a:rPr>
              <a:t>We bridge the gap </a:t>
            </a:r>
            <a:r>
              <a:rPr b="1" i="0" lang="en-US" sz="28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between a company's AI ambition and its ability to deliver.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640080" y="38404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Managed engineering teams</a:t>
            </a:r>
            <a:r>
              <a:rPr b="0" i="0" lang="en-US" sz="1600" u="none" cap="none" strike="noStrike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 — dedicated squads that operate under Tenacious management and deliver to your product.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640080" y="484632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Project consulting</a:t>
            </a:r>
            <a:r>
              <a:rPr b="0" i="0" lang="en-US" sz="1600" u="none" cap="none" strike="noStrike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 — time-boxed deliveries with defined scope. AI systems, data platforms, specialized infrastructure.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640080" y="585216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AI fluency training</a:t>
            </a:r>
            <a:r>
              <a:rPr b="0" i="0" lang="en-US" sz="1600" u="none" cap="none" strike="noStrike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 — cohort-based upskilling. Executive workshops. Corporate AI strategy engagements.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The unlock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640080" y="1463040"/>
            <a:ext cx="10972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D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2B2B3D"/>
                </a:solidFill>
                <a:latin typeface="Calibri"/>
                <a:ea typeface="Calibri"/>
                <a:cs typeface="Calibri"/>
                <a:sym typeface="Calibri"/>
              </a:rPr>
              <a:t>Top-5% engineering talent, trained through 10 Academy's pipeline over six months, with two years of reference projects before the first client engagement.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640080" y="3291840"/>
            <a:ext cx="2651760" cy="2194560"/>
          </a:xfrm>
          <a:prstGeom prst="roundRect">
            <a:avLst>
              <a:gd fmla="val 6250" name="adj"/>
            </a:avLst>
          </a:prstGeom>
          <a:solidFill>
            <a:srgbClr val="CADC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640080" y="3474720"/>
            <a:ext cx="2651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33%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640080" y="4480560"/>
            <a:ext cx="2651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5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women engineers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3520440" y="3291840"/>
            <a:ext cx="2651760" cy="2194560"/>
          </a:xfrm>
          <a:prstGeom prst="roundRect">
            <a:avLst>
              <a:gd fmla="val 6250" name="adj"/>
            </a:avLst>
          </a:prstGeom>
          <a:solidFill>
            <a:srgbClr val="CADC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3520440" y="3474720"/>
            <a:ext cx="2651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100%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3520440" y="4480560"/>
            <a:ext cx="2651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5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African engineers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6400800" y="3291840"/>
            <a:ext cx="2651760" cy="2194560"/>
          </a:xfrm>
          <a:prstGeom prst="roundRect">
            <a:avLst>
              <a:gd fmla="val 6250" name="adj"/>
            </a:avLst>
          </a:prstGeom>
          <a:solidFill>
            <a:srgbClr val="CADC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6400800" y="3474720"/>
            <a:ext cx="2651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18 mo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6400800" y="4480560"/>
            <a:ext cx="2651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5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average engineer tenure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9281160" y="3291840"/>
            <a:ext cx="2651760" cy="2194560"/>
          </a:xfrm>
          <a:prstGeom prst="roundRect">
            <a:avLst>
              <a:gd fmla="val 6250" name="adj"/>
            </a:avLst>
          </a:prstGeom>
          <a:solidFill>
            <a:srgbClr val="CADC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9281160" y="3474720"/>
            <a:ext cx="2651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7 days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9281160" y="4480560"/>
            <a:ext cx="2651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5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typical time-to-deploy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640080" y="58521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B6B80"/>
                </a:solidFill>
                <a:latin typeface="Calibri"/>
                <a:ea typeface="Calibri"/>
                <a:cs typeface="Calibri"/>
                <a:sym typeface="Calibri"/>
              </a:rPr>
              <a:t>Trained on AI workflows from day one — spec-driven development, agentic frameworks, RAG — not retrofit later.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Who we help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02920" y="1600200"/>
            <a:ext cx="73152" cy="2103120"/>
          </a:xfrm>
          <a:prstGeom prst="rect">
            <a:avLst/>
          </a:prstGeom>
          <a:solidFill>
            <a:srgbClr val="5F5FC4"/>
          </a:solidFill>
          <a:ln cap="flat" cmpd="sng" w="12700">
            <a:solidFill>
              <a:srgbClr val="5F5F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640080" y="164592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Series A/B startups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640080" y="2148840"/>
            <a:ext cx="52120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Recently funded, hiring velocity outstripping recruiting capacity. Budget fresh, runway the clock.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6172200" y="1600200"/>
            <a:ext cx="73152" cy="2103120"/>
          </a:xfrm>
          <a:prstGeom prst="rect">
            <a:avLst/>
          </a:prstGeom>
          <a:solidFill>
            <a:srgbClr val="5F5FC4"/>
          </a:solidFill>
          <a:ln cap="flat" cmpd="sng" w="12700">
            <a:solidFill>
              <a:srgbClr val="5F5F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6309360" y="164592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Mid-market platforms in restructure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6309360" y="2148840"/>
            <a:ext cx="52120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Preserving delivery capacity while reshaping cost. Post-layoff, post-press-release-on-cost-discipline.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02920" y="3977640"/>
            <a:ext cx="73152" cy="2103120"/>
          </a:xfrm>
          <a:prstGeom prst="rect">
            <a:avLst/>
          </a:prstGeom>
          <a:solidFill>
            <a:srgbClr val="5F5FC4"/>
          </a:solidFill>
          <a:ln cap="flat" cmpd="sng" w="12700">
            <a:solidFill>
              <a:srgbClr val="5F5F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640080" y="402336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New CTO / VP Eng in the first 90 days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640080" y="4526280"/>
            <a:ext cx="52120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Vendor mix gets reassessed in the transition window. Narrow but high-conversion.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6172200" y="3977640"/>
            <a:ext cx="73152" cy="2103120"/>
          </a:xfrm>
          <a:prstGeom prst="rect">
            <a:avLst/>
          </a:prstGeom>
          <a:solidFill>
            <a:srgbClr val="5F5FC4"/>
          </a:solidFill>
          <a:ln cap="flat" cmpd="sng" w="12700">
            <a:solidFill>
              <a:srgbClr val="5F5F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6309360" y="402336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Specialized capability gaps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6309360" y="4526280"/>
            <a:ext cx="52120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ML platform migration, agentic systems, data contracts. Project-based, higher margin, shorter commitment.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How we engage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640080" y="1554480"/>
            <a:ext cx="822960" cy="82296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640080" y="1600200"/>
            <a:ext cx="822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828800" y="155448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Discovery call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1828800" y="201168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30 minutes with a delivery lead. Grounded in a research brief on your public signals — funding, hiring, leadership, AI maturity.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40080" y="2697480"/>
            <a:ext cx="822960" cy="82296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640080" y="2743200"/>
            <a:ext cx="822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1828800" y="269748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Scoping walkthrough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1828800" y="315468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Technical conversation with your lead engineer. Confirm stack fit, data-handling, pairing capacity.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640080" y="3840480"/>
            <a:ext cx="822960" cy="82296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640080" y="3886200"/>
            <a:ext cx="822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1828800" y="384048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Proposal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1828800" y="429768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Named engineers. Specific start date. Phase-one deliverable with a clear evaluation criterion.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640080" y="4983480"/>
            <a:ext cx="822960" cy="82296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640080" y="5029200"/>
            <a:ext cx="822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1828800" y="498348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Deployment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1828800" y="544068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7-14 days from contract to engineers embedded in your workflow.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6B80"/>
                </a:solidFill>
                <a:latin typeface="Calibri"/>
                <a:ea typeface="Calibri"/>
                <a:cs typeface="Calibri"/>
                <a:sym typeface="Calibri"/>
              </a:rPr>
              <a:t>Minimum engagement: 1 month. Extensions in 2-week blocks. Exit clean at any block boundary, no penalty.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Pricing — public bands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640080" y="137160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Managed talent outsourcing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640080" y="19202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Junior engineer (0-2 yrs)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4480560" y="1920240"/>
            <a:ext cx="228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C4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5F5FC4"/>
                </a:solidFill>
                <a:latin typeface="Calibri"/>
                <a:ea typeface="Calibri"/>
                <a:cs typeface="Calibri"/>
                <a:sym typeface="Calibri"/>
              </a:rPr>
              <a:t>from $$$ </a:t>
            </a:r>
            <a:r>
              <a:rPr b="1" i="0" lang="en-US" sz="1400" u="none" cap="none" strike="noStrike">
                <a:solidFill>
                  <a:srgbClr val="5F5FC4"/>
                </a:solidFill>
                <a:latin typeface="Calibri"/>
                <a:ea typeface="Calibri"/>
                <a:cs typeface="Calibri"/>
                <a:sym typeface="Calibri"/>
              </a:rPr>
              <a:t>/ month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640080" y="23774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Mid-level engineer (2-4 yrs)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4480560" y="23774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C4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5F5FC4"/>
                </a:solidFill>
                <a:latin typeface="Calibri"/>
                <a:ea typeface="Calibri"/>
                <a:cs typeface="Calibri"/>
                <a:sym typeface="Calibri"/>
              </a:rPr>
              <a:t>from $$$</a:t>
            </a:r>
            <a:r>
              <a:rPr b="1" i="0" lang="en-US" sz="1400" u="none" cap="none" strike="noStrike">
                <a:solidFill>
                  <a:srgbClr val="5F5FC4"/>
                </a:solidFill>
                <a:latin typeface="Calibri"/>
                <a:ea typeface="Calibri"/>
                <a:cs typeface="Calibri"/>
                <a:sym typeface="Calibri"/>
              </a:rPr>
              <a:t> / month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640080" y="28346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Senior / team lead (4-7 yrs)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4480560" y="28346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C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F5FC4"/>
                </a:solidFill>
                <a:latin typeface="Calibri"/>
                <a:ea typeface="Calibri"/>
                <a:cs typeface="Calibri"/>
                <a:sym typeface="Calibri"/>
              </a:rPr>
              <a:t>from $</a:t>
            </a:r>
            <a:r>
              <a:rPr b="1" lang="en-US">
                <a:solidFill>
                  <a:srgbClr val="5F5FC4"/>
                </a:solidFill>
                <a:latin typeface="Calibri"/>
                <a:ea typeface="Calibri"/>
                <a:cs typeface="Calibri"/>
                <a:sym typeface="Calibri"/>
              </a:rPr>
              <a:t>$$</a:t>
            </a:r>
            <a:r>
              <a:rPr b="1" i="0" lang="en-US" sz="1400" u="none" cap="none" strike="noStrike">
                <a:solidFill>
                  <a:srgbClr val="5F5FC4"/>
                </a:solidFill>
                <a:latin typeface="Calibri"/>
                <a:ea typeface="Calibri"/>
                <a:cs typeface="Calibri"/>
                <a:sym typeface="Calibri"/>
              </a:rPr>
              <a:t> / month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640080" y="32918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Delivery lead / manager (7+ yrs)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4480560" y="32918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C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F5FC4"/>
                </a:solidFill>
                <a:latin typeface="Calibri"/>
                <a:ea typeface="Calibri"/>
                <a:cs typeface="Calibri"/>
                <a:sym typeface="Calibri"/>
              </a:rPr>
              <a:t>from $</a:t>
            </a:r>
            <a:r>
              <a:rPr b="1" lang="en-US">
                <a:solidFill>
                  <a:srgbClr val="5F5FC4"/>
                </a:solidFill>
                <a:latin typeface="Calibri"/>
                <a:ea typeface="Calibri"/>
                <a:cs typeface="Calibri"/>
                <a:sym typeface="Calibri"/>
              </a:rPr>
              <a:t>$$$</a:t>
            </a:r>
            <a:r>
              <a:rPr b="1" i="0" lang="en-US" sz="1400" u="none" cap="none" strike="noStrike">
                <a:solidFill>
                  <a:srgbClr val="5F5FC4"/>
                </a:solidFill>
                <a:latin typeface="Calibri"/>
                <a:ea typeface="Calibri"/>
                <a:cs typeface="Calibri"/>
                <a:sym typeface="Calibri"/>
              </a:rPr>
              <a:t> / month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6858000" y="137160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Project consulting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6858000" y="19202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Starter analytics / dashboard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10058400" y="192024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C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F5FC4"/>
                </a:solidFill>
                <a:latin typeface="Calibri"/>
                <a:ea typeface="Calibri"/>
                <a:cs typeface="Calibri"/>
                <a:sym typeface="Calibri"/>
              </a:rPr>
              <a:t>from $</a:t>
            </a:r>
            <a:r>
              <a:rPr b="1" lang="en-US">
                <a:solidFill>
                  <a:srgbClr val="5F5FC4"/>
                </a:solidFill>
                <a:latin typeface="Calibri"/>
                <a:ea typeface="Calibri"/>
                <a:cs typeface="Calibri"/>
                <a:sym typeface="Calibri"/>
              </a:rPr>
              <a:t>$$$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6858000" y="23774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Fixed-scope tool / feature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10058400" y="237744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C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F5FC4"/>
                </a:solidFill>
                <a:latin typeface="Calibri"/>
                <a:ea typeface="Calibri"/>
                <a:cs typeface="Calibri"/>
                <a:sym typeface="Calibri"/>
              </a:rPr>
              <a:t>from $</a:t>
            </a:r>
            <a:r>
              <a:rPr b="1" lang="en-US">
                <a:solidFill>
                  <a:srgbClr val="5F5FC4"/>
                </a:solidFill>
                <a:latin typeface="Calibri"/>
                <a:ea typeface="Calibri"/>
                <a:cs typeface="Calibri"/>
                <a:sym typeface="Calibri"/>
              </a:rPr>
              <a:t>$$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6858000" y="28346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ML/data MVP (proof of concept)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10058400" y="283464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C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F5FC4"/>
                </a:solidFill>
                <a:latin typeface="Calibri"/>
                <a:ea typeface="Calibri"/>
                <a:cs typeface="Calibri"/>
                <a:sym typeface="Calibri"/>
              </a:rPr>
              <a:t>from $</a:t>
            </a:r>
            <a:r>
              <a:rPr b="1" lang="en-US">
                <a:solidFill>
                  <a:srgbClr val="5F5FC4"/>
                </a:solidFill>
                <a:latin typeface="Calibri"/>
                <a:ea typeface="Calibri"/>
                <a:cs typeface="Calibri"/>
                <a:sym typeface="Calibri"/>
              </a:rPr>
              <a:t>$$$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858000" y="32918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Mid-size AI system build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10058400" y="329184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C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F5FC4"/>
                </a:solidFill>
                <a:latin typeface="Calibri"/>
                <a:ea typeface="Calibri"/>
                <a:cs typeface="Calibri"/>
                <a:sym typeface="Calibri"/>
              </a:rPr>
              <a:t>$</a:t>
            </a:r>
            <a:r>
              <a:rPr b="1" lang="en-US">
                <a:solidFill>
                  <a:srgbClr val="5F5FC4"/>
                </a:solidFill>
                <a:latin typeface="Calibri"/>
                <a:ea typeface="Calibri"/>
                <a:cs typeface="Calibri"/>
                <a:sym typeface="Calibri"/>
              </a:rPr>
              <a:t>$$$</a:t>
            </a:r>
            <a:r>
              <a:rPr b="1" i="0" lang="en-US" sz="1400" u="none" cap="none" strike="noStrike">
                <a:solidFill>
                  <a:srgbClr val="5F5FC4"/>
                </a:solidFill>
                <a:latin typeface="Calibri"/>
                <a:ea typeface="Calibri"/>
                <a:cs typeface="Calibri"/>
                <a:sym typeface="Calibri"/>
              </a:rPr>
              <a:t> – $</a:t>
            </a:r>
            <a:r>
              <a:rPr b="1" lang="en-US">
                <a:solidFill>
                  <a:srgbClr val="5F5FC4"/>
                </a:solidFill>
                <a:latin typeface="Calibri"/>
                <a:ea typeface="Calibri"/>
                <a:cs typeface="Calibri"/>
                <a:sym typeface="Calibri"/>
              </a:rPr>
              <a:t>$$$$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6858000" y="37490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Multi-phase platform engagement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10058400" y="374904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C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F5FC4"/>
                </a:solidFill>
                <a:latin typeface="Calibri"/>
                <a:ea typeface="Calibri"/>
                <a:cs typeface="Calibri"/>
                <a:sym typeface="Calibri"/>
              </a:rPr>
              <a:t>$</a:t>
            </a:r>
            <a:r>
              <a:rPr b="1" lang="en-US">
                <a:solidFill>
                  <a:srgbClr val="5F5FC4"/>
                </a:solidFill>
                <a:latin typeface="Calibri"/>
                <a:ea typeface="Calibri"/>
                <a:cs typeface="Calibri"/>
                <a:sym typeface="Calibri"/>
              </a:rPr>
              <a:t>$$$</a:t>
            </a:r>
            <a:r>
              <a:rPr b="1" i="0" lang="en-US" sz="1400" u="none" cap="none" strike="noStrike">
                <a:solidFill>
                  <a:srgbClr val="5F5FC4"/>
                </a:solidFill>
                <a:latin typeface="Calibri"/>
                <a:ea typeface="Calibri"/>
                <a:cs typeface="Calibri"/>
                <a:sym typeface="Calibri"/>
              </a:rPr>
              <a:t> – $</a:t>
            </a:r>
            <a:r>
              <a:rPr b="1" lang="en-US">
                <a:solidFill>
                  <a:srgbClr val="5F5FC4"/>
                </a:solidFill>
                <a:latin typeface="Calibri"/>
                <a:ea typeface="Calibri"/>
                <a:cs typeface="Calibri"/>
                <a:sym typeface="Calibri"/>
              </a:rPr>
              <a:t>$$$$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640080" y="48463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6B80"/>
                </a:solidFill>
                <a:latin typeface="Calibri"/>
                <a:ea typeface="Calibri"/>
                <a:cs typeface="Calibri"/>
                <a:sym typeface="Calibri"/>
              </a:rPr>
              <a:t>Cloud, LLM, and SaaS costs billed at actuals. Insurance ($1M standard), project management, laptops, and overhead included in monthly rate.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6B80"/>
                </a:solidFill>
                <a:latin typeface="Calibri"/>
                <a:ea typeface="Calibri"/>
                <a:cs typeface="Calibri"/>
                <a:sym typeface="Calibri"/>
              </a:rPr>
              <a:t>Quotes outside these bands require a scoping conversation. We don't commit to total contract values in a first email.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Case studies (anonymized)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640080" y="1371600"/>
            <a:ext cx="10972800" cy="1417320"/>
          </a:xfrm>
          <a:prstGeom prst="roundRect">
            <a:avLst>
              <a:gd fmla="val 6452" name="adj"/>
            </a:avLst>
          </a:prstGeom>
          <a:solidFill>
            <a:srgbClr val="CADC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914400" y="146304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Global AdTech platform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914400" y="187452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C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F5FC4"/>
                </a:solidFill>
                <a:latin typeface="Calibri"/>
                <a:ea typeface="Calibri"/>
                <a:cs typeface="Calibri"/>
                <a:sym typeface="Calibri"/>
              </a:rPr>
              <a:t>Managed team — ongoing, year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914400" y="219456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18% margin improvement on the bidding line. ~</a:t>
            </a:r>
            <a:r>
              <a:rPr lang="en-US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$$$</a:t>
            </a:r>
            <a:r>
              <a:rPr b="0" i="0" lang="en-US" sz="1400" u="none" cap="none" strike="noStrike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 person-hours saved per year.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640080" y="2971800"/>
            <a:ext cx="10972800" cy="1417320"/>
          </a:xfrm>
          <a:prstGeom prst="roundRect">
            <a:avLst>
              <a:gd fmla="val 6452" name="adj"/>
            </a:avLst>
          </a:prstGeom>
          <a:solidFill>
            <a:srgbClr val="CADC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914400" y="306324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North American airline loyalty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914400" y="347472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C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F5FC4"/>
                </a:solidFill>
                <a:latin typeface="Calibri"/>
                <a:ea typeface="Calibri"/>
                <a:cs typeface="Calibri"/>
                <a:sym typeface="Calibri"/>
              </a:rPr>
              <a:t>Project consulting — 5 phases, 9 months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914400" y="379476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Partner onboarding reduced from several months to a few days via an AI configuration assistant.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640080" y="4572000"/>
            <a:ext cx="10972800" cy="1417320"/>
          </a:xfrm>
          <a:prstGeom prst="roundRect">
            <a:avLst>
              <a:gd fmla="val 6452" name="adj"/>
            </a:avLst>
          </a:prstGeom>
          <a:solidFill>
            <a:srgbClr val="CADC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914400" y="466344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Multi-location franchise sales platform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914400" y="507492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C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F5FC4"/>
                </a:solidFill>
                <a:latin typeface="Calibri"/>
                <a:ea typeface="Calibri"/>
                <a:cs typeface="Calibri"/>
                <a:sym typeface="Calibri"/>
              </a:rPr>
              <a:t>Project consulting — 5 phases, running through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914400" y="539496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Unified lead pipeline across three operational platforms without migration. Phase 1 cleared in-window.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6B80"/>
                </a:solidFill>
                <a:latin typeface="Calibri"/>
                <a:ea typeface="Calibri"/>
                <a:cs typeface="Calibri"/>
                <a:sym typeface="Calibri"/>
              </a:rPr>
              <a:t>Named references available on scoping call, with client consent.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Why choose Tenacious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640080" y="1463040"/>
            <a:ext cx="320040" cy="320040"/>
          </a:xfrm>
          <a:prstGeom prst="ellipse">
            <a:avLst/>
          </a:prstGeom>
          <a:solidFill>
            <a:srgbClr val="5F5FC4"/>
          </a:solidFill>
          <a:ln cap="flat" cmpd="sng" w="12700">
            <a:solidFill>
              <a:srgbClr val="5F5F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1143000" y="14173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Reliability over hourly rate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1143000" y="1828800"/>
            <a:ext cx="5029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18-month average tenure. No engineer rotation without your sign-off.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6309360" y="1463040"/>
            <a:ext cx="320040" cy="320040"/>
          </a:xfrm>
          <a:prstGeom prst="ellipse">
            <a:avLst/>
          </a:prstGeom>
          <a:solidFill>
            <a:srgbClr val="5F5FC4"/>
          </a:solidFill>
          <a:ln cap="flat" cmpd="sng" w="12700">
            <a:solidFill>
              <a:srgbClr val="5F5F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6812280" y="14173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Full time-zone overlap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6812280" y="1828800"/>
            <a:ext cx="5029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3-5 hours of synchronous time with US East, EU, and East Africa as standard.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640080" y="3017520"/>
            <a:ext cx="320040" cy="320040"/>
          </a:xfrm>
          <a:prstGeom prst="ellipse">
            <a:avLst/>
          </a:prstGeom>
          <a:solidFill>
            <a:srgbClr val="5F5FC4"/>
          </a:solidFill>
          <a:ln cap="flat" cmpd="sng" w="12700">
            <a:solidFill>
              <a:srgbClr val="5F5F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1143000" y="29718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Employees, not contractors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1143000" y="3383280"/>
            <a:ext cx="5029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Salaried, benefits, insurance. Your design-review process, not a parallel one.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6309360" y="3017520"/>
            <a:ext cx="320040" cy="320040"/>
          </a:xfrm>
          <a:prstGeom prst="ellipse">
            <a:avLst/>
          </a:prstGeom>
          <a:solidFill>
            <a:srgbClr val="5F5FC4"/>
          </a:solidFill>
          <a:ln cap="flat" cmpd="sng" w="12700">
            <a:solidFill>
              <a:srgbClr val="5F5F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6812280" y="29718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In-person teams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6812280" y="3383280"/>
            <a:ext cx="5029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Four in-person offices in Addis Ababa. Knowledge transfer happens at the whiteboard, not async.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640080" y="4572000"/>
            <a:ext cx="320040" cy="320040"/>
          </a:xfrm>
          <a:prstGeom prst="ellipse">
            <a:avLst/>
          </a:prstGeom>
          <a:solidFill>
            <a:srgbClr val="5F5FC4"/>
          </a:solidFill>
          <a:ln cap="flat" cmpd="sng" w="12700">
            <a:solidFill>
              <a:srgbClr val="5F5F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1143000" y="45262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Public-benefit mission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1143000" y="4937760"/>
            <a:ext cx="5029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Delaware PBC. Diversity and community impact are deliberate, not marketing language.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6309360" y="4572000"/>
            <a:ext cx="320040" cy="320040"/>
          </a:xfrm>
          <a:prstGeom prst="ellipse">
            <a:avLst/>
          </a:prstGeom>
          <a:solidFill>
            <a:srgbClr val="5F5FC4"/>
          </a:solidFill>
          <a:ln cap="flat" cmpd="sng" w="12700">
            <a:solidFill>
              <a:srgbClr val="5F5F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6812280" y="45262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AI-native by default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6812280" y="4937760"/>
            <a:ext cx="5029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5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Every engineer uses Claude, agentic workflows, and spec-driven dev as their baseline.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next 30 minutes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1828800" y="256032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1.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2468880" y="256032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 walk us through your current delivery bottleneck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1828800" y="320040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2.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2468880" y="320040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 describe the specific Tenacious engagement that would address 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1828800" y="384048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3.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2468880" y="384048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If there's fit — we propose a scoping walkthrough with your lead engineer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1828800" y="448056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4.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2468880" y="448056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If there isn't — you get a short written note with three vendor recommendations we'd suggest instead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 call is free. A 'no' after the call is welcome — it saves us both time.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Contact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640080" y="182880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gettenacious.com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C4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5F5FC4"/>
                </a:solidFill>
                <a:latin typeface="Calibri"/>
                <a:ea typeface="Calibri"/>
                <a:cs typeface="Calibri"/>
                <a:sym typeface="Calibri"/>
              </a:rPr>
              <a:t>team@gettenacious.com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640080" y="40233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3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B2B3D"/>
                </a:solidFill>
                <a:latin typeface="Calibri"/>
                <a:ea typeface="Calibri"/>
                <a:cs typeface="Calibri"/>
                <a:sym typeface="Calibri"/>
              </a:rPr>
              <a:t>Arun Sharma, Co-founder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640080" y="452628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5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1600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b="0" i="0" lang="en-US" sz="1600" u="none" cap="none" strike="noStrike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123</a:t>
            </a:r>
            <a:r>
              <a:rPr b="0" i="0" lang="en-US" sz="1600" u="none" cap="none" strike="noStrike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1234</a:t>
            </a:r>
            <a:r>
              <a:rPr b="0" i="0" lang="en-US" sz="1600" u="none" cap="none" strike="noStrike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1234</a:t>
            </a:r>
            <a:r>
              <a:rPr b="0" i="0" lang="en-US" sz="1600" u="none" cap="none" strike="noStrike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 (WhatsApp)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3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B2B3D"/>
                </a:solidFill>
                <a:latin typeface="Calibri"/>
                <a:ea typeface="Calibri"/>
                <a:cs typeface="Calibri"/>
                <a:sym typeface="Calibri"/>
              </a:rPr>
              <a:t>Dr. Yabebal Fantaye, Co-founder &amp; Scientific Director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640080" y="57150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5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4A4A5C"/>
                </a:solidFill>
                <a:latin typeface="Calibri"/>
                <a:ea typeface="Calibri"/>
                <a:cs typeface="Calibri"/>
                <a:sym typeface="Calibri"/>
              </a:rPr>
              <a:t>yabebal@gettenacious.com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2026-04-22T09:47:21Z</dcterms:created>
  <dc:creator>PptxGenJS</dc:creator>
</cp:coreProperties>
</file>