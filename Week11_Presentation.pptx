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4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TENACIOUS-BENCH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DD4BF"/>
                </a:solidFill>
              </a:rPr>
              <a:t>Building a Machine-Verifiable Benchmark for B2B Sales Email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Week 11  ·  10Academy TRP1  ·  richh-s  ·  April–May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Key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5C518"/>
                </a:solidFill>
              </a:rPr>
              <a:t>Delta A  +0.332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D4"/>
                </a:solidFill>
              </a:rPr>
              <a:t>p = 0.003   ·   95 % CI [0.271, 0.393]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</a:rPr>
              <a:t>Pass@1:  0.412  →  0.744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Base  →  Post-SimPO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Total cost:  $7.20 / $10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1   Problem &amp; Why We Built a New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2   Benchmark Composition (200 Tasks)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3   Scoring Rubric — Deterministic +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4   Training: SimPO Judge Critic (Path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5   Results: Delta A /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6   Contamination &amp; Validity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7   Exercise 9 — AI Productivity Multiplier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66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8   Key Takeaways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Week 10 probes identified 4 gaps in τ²-Bench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❌  No grounding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Agents fabricate signals not in the hiring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48640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834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❌  No bench-match 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918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Agents commit ML capacity that doesn't exist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48640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❌  No ICP routing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00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Out-of-segment prospects accepted silently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48640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834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❌  No multi-dim tone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918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No way to measure brand voice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→  Solution: Tenacious-Bench v0.1 — 200 tasks, 8 failure dimensions, machine-verifiable rubric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Benchmark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200 tasks · 4 source modes · 8 failure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828800" cy="384048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Partition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51560"/>
            <a:ext cx="822960" cy="384048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097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51560"/>
            <a:ext cx="822960" cy="384048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097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35607"/>
            <a:ext cx="18288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435607"/>
            <a:ext cx="8229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481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97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435607"/>
            <a:ext cx="8229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1481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48.5%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19655"/>
            <a:ext cx="182880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86537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819655"/>
            <a:ext cx="82296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186537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1819655"/>
            <a:ext cx="82296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79" y="186537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03703"/>
            <a:ext cx="182880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4942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held-out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203703"/>
            <a:ext cx="8229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224942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203703"/>
            <a:ext cx="8229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79" y="224942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21.5%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87752"/>
            <a:ext cx="182880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33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587752"/>
            <a:ext cx="82296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2633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2587752"/>
            <a:ext cx="822960" cy="384048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79" y="2633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</a:rPr>
              <a:t>Source Mode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1508760"/>
            <a:ext cx="3474720" cy="8686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1508760"/>
            <a:ext cx="9144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Trace-derived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1947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N = 75  (37.5%)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1508760"/>
            <a:ext cx="3474720" cy="8686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0" y="1508760"/>
            <a:ext cx="91440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Hand-authored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1947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N = 45  (22.5%)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560320"/>
            <a:ext cx="3474720" cy="8686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0" y="2560320"/>
            <a:ext cx="91440" cy="8686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2606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Programmatic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N = 50  (25.0%)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560320"/>
            <a:ext cx="3474720" cy="8686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63840" y="2560320"/>
            <a:ext cx="91440" cy="868680"/>
          </a:xfrm>
          <a:prstGeom prst="rect">
            <a:avLst/>
          </a:prstGeom>
          <a:solidFill>
            <a:srgbClr val="A0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606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Multi-LLM synthesis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999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N = 30  (15.0%)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8 Failure Dimensions: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06240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26110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bench_over_commitment (41)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80" y="4206240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93008" y="426110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icp_misclassification (37)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206240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9088" y="426110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signal_over_claiming (31)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4206240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5168" y="426110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tone_violation (27)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709159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476402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word_count_violation (20)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280" y="4709159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93008" y="476402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one_ask_violation (19)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709159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19088" y="476402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abstention_failure (17)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4709159"/>
            <a:ext cx="274320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45168" y="4764023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multi_dimension (8)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Scoring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6 deterministic checks + 5 judge tone markers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solidFill>
            <a:srgbClr val="14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518"/>
                </a:solidFill>
              </a:rPr>
              <a:t>composite  =  0.4  +  0.12 × (marker_sum − 20)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EF8"/>
                </a:solidFill>
              </a:rPr>
              <a:t>Deterministic Checks (any FAIL → composite = 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banned_phrase_check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443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signal_grounding_check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47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bench_match_check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50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word_count_check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one_ask_check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5303520" cy="43891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</a:rPr>
              <a:t>✓  bench_word_check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EF8"/>
                </a:solidFill>
              </a:rPr>
              <a:t>Judge Tone Markers (scored 1–5 each)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54864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423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State intent; single ask; zero filler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44368"/>
            <a:ext cx="54864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9900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grounded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9900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Every claim maps to a brief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11296"/>
            <a:ext cx="54864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5701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honest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5701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No over-commitment beyond bench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078224"/>
            <a:ext cx="54864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123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professional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239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No banned phrases; peer-level language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645152"/>
            <a:ext cx="54864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90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non_condescending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6908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Gaps framed as hypotheses, not 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518"/>
                </a:solidFill>
              </a:rPr>
              <a:t>PASS threshold:  composite &gt; 0.0   (hard rules take precedence)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Inter-Rater Agreement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30 tasks · 2 sessions · rubric revised where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474720" cy="36576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Check / Marker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051560"/>
            <a:ext cx="1280160" cy="36576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6783" y="109728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Session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051560"/>
            <a:ext cx="1280160" cy="36576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3" y="109728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Session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51560"/>
            <a:ext cx="1188720" cy="36576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3" y="10972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Revised?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17319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47218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banned_phrase_check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417319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3" y="147218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9" y="1417319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3" y="147218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417319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14721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819655"/>
            <a:ext cx="3474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1874519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signal_grounding_check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819655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3" y="1874519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73%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9" y="1819655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3" y="1874519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819655"/>
            <a:ext cx="1188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7103" y="187451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C518"/>
                </a:solidFill>
              </a:rPr>
              <a:t>Yes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221991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27685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bench_match_check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2221991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6783" y="227685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93%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9" y="2221991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3" y="227685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221991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3" y="22768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24328"/>
            <a:ext cx="3474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26791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word_count_check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2624328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86783" y="267919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9" y="2624328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6943" y="267919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24328"/>
            <a:ext cx="1188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3" y="267919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26663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081527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one_ask_check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3026663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3" y="3081527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97%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79" y="3026663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6943" y="3081527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026663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47103" y="3081527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429000"/>
            <a:ext cx="3474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348386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bench_word_check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3429000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86783" y="348386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87%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79" y="3429000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66943" y="348386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429000"/>
            <a:ext cx="1188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3" y="34838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831335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3886199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Tone: direct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3831335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86783" y="3886199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83%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79" y="3831335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66943" y="3886199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3831335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47103" y="3886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233672"/>
            <a:ext cx="3474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" y="42885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Tone: grounded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0" y="4233672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6783" y="428853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77%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12079" y="4233672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66943" y="428853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87%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233672"/>
            <a:ext cx="1188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47103" y="42885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C518"/>
                </a:solidFill>
              </a:rPr>
              <a:t>Yes 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636008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469087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Tone: honest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31920" y="4636008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86783" y="469087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90%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12079" y="4636008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66943" y="469087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93%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4636008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47103" y="469087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038344"/>
            <a:ext cx="3474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2064" y="5093207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Tone: professional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31920" y="5038344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986783" y="5093207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93%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12079" y="5038344"/>
            <a:ext cx="128016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66943" y="5093207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2240" y="5038344"/>
            <a:ext cx="1188720" cy="402336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47103" y="5093207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440680"/>
            <a:ext cx="3474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" y="549554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Tone: non_condescending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931920" y="5440680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86783" y="549554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87%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12079" y="5440680"/>
            <a:ext cx="12801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266943" y="5495544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93%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92240" y="5440680"/>
            <a:ext cx="118872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47103" y="54955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No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79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</a:rPr>
              <a:t>Overall composite:  86%  →  96%  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79" y="1920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All 11 dimensions ≥ 80% on Session 2
Threshold met after rubric clarifications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Path B — SimPO Judge Critic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Model:  Qwen2.5-1.5B  LoRA  ·  γ = 0.3  ·  40 preference pairs  ·  Colab T4  ·  $0.00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56032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560320" cy="7315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97 train FAIL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Starting dataset
from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20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8EF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56032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560320" cy="7315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50876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40 preference pairs
(chosen / rejected)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176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1 pair per FAIL
across 6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8EF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417320"/>
            <a:ext cx="256032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417320"/>
            <a:ext cx="2560320" cy="7315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50876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SimPO fine-tune
Qwen2.5-1.5B 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γ=0.3  ·  38 min
Colab T4 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920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8EF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1417320"/>
            <a:ext cx="2560320" cy="1463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19" y="1417320"/>
            <a:ext cx="2560320" cy="7315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7" y="150876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Judge critic
applied at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176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Rejection-sampling
layer on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08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</a:rPr>
              <a:t>Training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2286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</a:rPr>
              <a:t>1.42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Epoch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3520440"/>
            <a:ext cx="2286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</a:rPr>
              <a:t>1.08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Epoch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520440"/>
            <a:ext cx="2286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59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</a:rPr>
              <a:t>0.84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Epoch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3520440"/>
            <a:ext cx="2286000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3566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</a:rPr>
              <a:t>0.68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Epoch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C55E"/>
                </a:solidFill>
              </a:rPr>
              <a:t>Target &lt; 0.75 ✓ achieved by epoch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108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</a:rPr>
              <a:t>Why SimPO over DPO?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520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• Reference-free — no ref model VRAM overhead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9502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• γ length penalty avoids verbose reward hacking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3799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• γ=0.3 (vs paper default 0.5): better for weakly-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809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  discriminating boundary pairs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239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• Peak VRAM: 13.8 GB (1.6 GB headroom on T4)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Results — Benchmark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468880" cy="1417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7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0.412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756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Base pass@1
(no judge, no det)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468880" cy="1417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07007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0.531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756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Det-only pass@1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468880" cy="14173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07007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</a:rPr>
              <a:t>0.744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756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Post-SimPO pass@1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97280"/>
            <a:ext cx="2468880" cy="1417320"/>
          </a:xfrm>
          <a:prstGeom prst="rect">
            <a:avLst/>
          </a:prstGeom>
          <a:solidFill>
            <a:srgbClr val="1A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07007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C518"/>
                </a:solidFill>
              </a:rPr>
              <a:t>+0.332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756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Delta A  (p=0.003)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</a:rPr>
              <a:t>Pass@1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37547"/>
            <a:ext cx="1828800" cy="828812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2606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0.412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D4"/>
                </a:solidFill>
              </a:rPr>
              <a:t>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4098157"/>
            <a:ext cx="1828800" cy="106820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68667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0.531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D4"/>
                </a:solidFill>
              </a:rPr>
              <a:t>Det-only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69670"/>
            <a:ext cx="1828800" cy="149668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25819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0.744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D4"/>
                </a:solidFill>
              </a:rPr>
              <a:t>Post-SimPO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743200"/>
            <a:ext cx="2651760" cy="1371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788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</a:rPr>
              <a:t>Delta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546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D4BF"/>
                </a:solidFill>
              </a:rPr>
              <a:t>+0.213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D4"/>
                </a:solidFill>
              </a:rPr>
              <a:t>SimPO vs det-only
p=0.009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Total project cost:  $7.20  (of $10 budget)  ·  Training cost:  $0.00 (Colab T4 free tier)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Contamination &amp; Validity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Time-shift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16151"/>
            <a:ext cx="128016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23443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61288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0 violations — no held-out task leaked into 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39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39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N-gram overlap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84831"/>
            <a:ext cx="1280160" cy="43891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1031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PASSED*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29967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6 template-variant warnings  ·  0 substantive violations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Embedding similarity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53512"/>
            <a:ext cx="128016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9718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898648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sentence-transformers not installed offline
(Day 4 task)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599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57599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4903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Rubric 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822191"/>
            <a:ext cx="128016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84047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767327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All 11 dims ≥ 80% on Session 2 after rubric revision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26279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26279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617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Smoke test (3 examples)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690871"/>
            <a:ext cx="128016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70915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636007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End-to-end scoring verified on FAIL / PARTIAL / FULL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2286000" cy="777240"/>
          </a:xfrm>
          <a:prstGeom prst="rect">
            <a:avLst/>
          </a:prstGeom>
          <a:solidFill>
            <a:srgbClr val="12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486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False-positive 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559552"/>
            <a:ext cx="128016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557784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04688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word_count_check on 20 dev tasks (TB-050–069)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Honest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What is working  vs  what is not yet 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8046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91440" cy="8046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[RISK]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097280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40 preference pairs is far below Prometheus 2 recommendation (≥10K).
Delta A may shrink on held-out — critic has seen only one template per failure dim.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1247120" cy="8046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91440" cy="8046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[PENDING]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11679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Held-out evaluation (n=43) not yet run.
Delta A = +0.332 is dev-only — this is the primary open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47120" cy="8046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91440" cy="8046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260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[PENDING]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926079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Embedding similarity contamination check still pending.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11247120" cy="8046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91440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[RESOLVED]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840480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HuggingFace upload completed — dataset + model published.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11247120" cy="8046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91440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[RESOLVED]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754880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Training converged: loss 1.42 → 0.68 over 3 epochs on T4.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Exercise 9 — AI as a Productivity Multiplier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4"/>
                </a:solidFill>
              </a:rPr>
              <a:t>10 employee policy questions · manual vs AI-assisted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43200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Manual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97280"/>
            <a:ext cx="2743200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0700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18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AI-assisted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2743200" cy="1280160"/>
          </a:xfrm>
          <a:prstGeom prst="rect">
            <a:avLst/>
          </a:prstGeom>
          <a:solidFill>
            <a:srgbClr val="1A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7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</a:rPr>
              <a:t>~49%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Time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097280"/>
            <a:ext cx="2286000" cy="1280160"/>
          </a:xfrm>
          <a:prstGeom prst="rect">
            <a:avLst/>
          </a:prstGeom>
          <a:solidFill>
            <a:srgbClr val="2A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207007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C518"/>
                </a:solidFill>
              </a:rPr>
              <a:t>1 of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938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Extra gap found by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</a:rPr>
              <a:t>Where AI helped most: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✓  Phrasing consistency — action-first sentence structure across all 10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✓  Completeness checking — surfaced Q7 policy gap (which internal tools are approved?)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✓  Eliminated reformatting friction — table structure, policy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</a:rPr>
              <a:t>Where human judgment was irreplaceable: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→  Identifying that Q10 approval process is undocumented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→  Setting Q10 confidence = Medium (not High) — AI would default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→  Verifying AI didn't invent policy details not in the source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→  All factual accuracy — AI improved packaging, not correctness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749808"/>
          </a:xfrm>
          <a:prstGeom prst="rect">
            <a:avLst/>
          </a:prstGeom>
          <a:solidFill>
            <a:srgbClr val="14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02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</a:rPr>
              <a:t>Key insight: stop asking "can AI do this for me?" — ask "which part is mechanical friction that AI can remove?"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1691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685800" cy="16916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188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Tenacious-Bench v0.1 fills real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916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200 machine-verifiable tasks across 8 failure dims
that τ²-Bench retail cannot detect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5486400" cy="1691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685800" cy="16916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188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SimPO judge critic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6916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Delta A = +0.332 (p=0.003) — +21 pp improvement
beyond deterministic checks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00" cy="1691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685800" cy="16916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2043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08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Rubric is reliable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6118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All 11 annotation dimensions ≥80% IRA after revision;
mechanistic checks at 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17520"/>
            <a:ext cx="5486400" cy="1691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017520"/>
            <a:ext cx="685800" cy="16916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52043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3108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Held-out result is the open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1187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Dev Delta A = +0.332 needs replication on held-out
(n=43) before result is confirmed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</a:rPr>
              <a:t>Next:  run held-out eval  ·  embed sim contamination check  ·  update evidence_graph C009/C010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ED4"/>
                </a:solidFill>
              </a:rPr>
              <a:t>Tenacious-Bench v0.1  ·  richh-s  ·  10Academy TRP1  · 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518"/>
                </a:solidFill>
              </a:rPr>
              <a:t>Delta A  =  +0.332  (p = 0.003)   ·   pass@1:  0.412  →  0.744   ·   cost:  $7.20 / $10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D4BF"/>
                </a:solidFill>
              </a:rPr>
              <a:t>richh-s/tenacious-bench-v0.1  ·  richh-s/tenacious-bench-judge-critic-v0.1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